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media/image18.jpg" ContentType="image/png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55" r:id="rId1"/>
  </p:sldMasterIdLst>
  <p:notesMasterIdLst>
    <p:notesMasterId r:id="rId12"/>
  </p:notesMasterIdLst>
  <p:handoutMasterIdLst>
    <p:handoutMasterId r:id="rId13"/>
  </p:handoutMasterIdLst>
  <p:sldIdLst>
    <p:sldId id="281" r:id="rId2"/>
    <p:sldId id="257" r:id="rId3"/>
    <p:sldId id="258" r:id="rId4"/>
    <p:sldId id="282" r:id="rId5"/>
    <p:sldId id="259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FED9AA-6A97-45FF-BCF1-DBD9CFBE798F}">
          <p14:sldIdLst>
            <p14:sldId id="281"/>
            <p14:sldId id="257"/>
          </p14:sldIdLst>
        </p14:section>
        <p14:section name="Section 1" id="{2A7242DC-929E-4579-8F10-2B02EF80F144}">
          <p14:sldIdLst>
            <p14:sldId id="258"/>
            <p14:sldId id="282"/>
            <p14:sldId id="259"/>
            <p14:sldId id="260"/>
          </p14:sldIdLst>
        </p14:section>
        <p14:section name="Section 2" id="{166B4E13-456F-4DE7-8043-47B198AC9D32}">
          <p14:sldIdLst/>
        </p14:section>
        <p14:section name="Section 3" id="{FD1E6B44-63E4-4285-A079-29EC5D274920}">
          <p14:sldIdLst>
            <p14:sldId id="263"/>
            <p14:sldId id="264"/>
            <p14:sldId id="265"/>
          </p14:sldIdLst>
        </p14:section>
        <p14:section name="Section 4" id="{BD0AB789-343F-4F3E-AB6C-9DEB37B93BF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F74"/>
    <a:srgbClr val="EBBADB"/>
    <a:srgbClr val="FDAF1F"/>
    <a:srgbClr val="C57C86"/>
    <a:srgbClr val="F08310"/>
    <a:srgbClr val="EB5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9DD9DD-9E6C-4910-8AC0-68ADFF6A6AFC}">
  <a:tblStyle styleId="{839DD9DD-9E6C-4910-8AC0-68ADFF6A6AFC}" styleName="Level up! PowerPoin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ap="flat" cmpd="sng" algn="ctr">
              <a:solidFill>
                <a:schemeClr val="accent5"/>
              </a:solidFill>
            </a:ln>
          </a:bottom>
          <a:insideH>
            <a:ln w="9525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/>
        <a:fill>
          <a:noFill/>
        </a:fill>
      </a:tcStyle>
    </a:lastRow>
    <a:firstRow>
      <a:tcTxStyle b="on"/>
      <a:tcStyle>
        <a:tcBdr>
          <a:bottom>
            <a:ln w="9525" cap="flat" cmpd="sng" algn="ctr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91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0E12572B-F973-4732-A453-119EA490170A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8BB83C12-F094-4EDD-ABDC-7BADBDED57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7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numCol="1" rtlCol="0"/>
          <a:lstStyle>
            <a:lvl1pPr algn="r">
              <a:defRPr sz="1200"/>
            </a:lvl1pPr>
          </a:lstStyle>
          <a:p>
            <a:fld id="{3A8927E5-BED3-44D0-9ADF-FA873E1D6DAF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numCol="1" rtlCol="0" anchor="ctr"/>
          <a:lstStyle/>
          <a:p>
            <a:endParaRPr lang="en-GB" alt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numCol="1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numCol="1" rtlCol="0" anchor="b"/>
          <a:lstStyle>
            <a:lvl1pPr algn="r">
              <a:defRPr sz="1200"/>
            </a:lvl1pPr>
          </a:lstStyle>
          <a:p>
            <a:fld id="{7324DA73-AE27-4433-BD53-3E1DB61918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8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7324DA73-AE27-4433-BD53-3E1DB61918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48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6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7635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4530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8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5490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1"/>
          <a:lstStyle/>
          <a:p>
            <a:endParaRPr lang="de-DE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numCol="1"/>
          <a:lstStyle/>
          <a:p>
            <a:fld id="{B0AD530B-8EC8-4709-B322-33BDFA1ED3DA}" type="slidenum">
              <a:rPr lang="de-DE" altLang="de-DE" smtClean="0"/>
              <a:t>9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82543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2109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numCol="1"/>
          <a:lstStyle/>
          <a:p>
            <a:r>
              <a:rPr lang="en-US" dirty="0"/>
              <a:t>Click to edit Master title style</a:t>
            </a:r>
            <a:endParaRPr lang="en-GB" altLang="en-GB" dirty="0"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D2037D5-9F9A-4CC9-98B0-68BDD36B02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50551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51" imgH="450" progId="TCLayout.ActiveDocument.1">
                  <p:embed/>
                </p:oleObj>
              </mc:Choice>
              <mc:Fallback>
                <p:oleObj name="think-cell Slide" r:id="rId7" imgW="451" imgH="45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D2037D5-9F9A-4CC9-98B0-68BDD36B0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6E612F5A-FB47-481F-9DE2-4A75D564380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kern="0" baseline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68680" y="384048"/>
            <a:ext cx="10744200" cy="866648"/>
          </a:xfrm>
          <a:prstGeom prst="rect">
            <a:avLst/>
          </a:prstGeom>
        </p:spPr>
        <p:txBody>
          <a:bodyPr vert="horz" lIns="0" tIns="0" rIns="0" bIns="0" numCol="1" rtlCol="0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868680" y="1399032"/>
            <a:ext cx="10744200" cy="4928616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457200" y="6864350"/>
            <a:ext cx="314325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l">
              <a:defRPr sz="300">
                <a:solidFill>
                  <a:schemeClr val="accent4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771525" y="6864350"/>
            <a:ext cx="533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ctr">
              <a:defRPr sz="3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304925" y="6864350"/>
            <a:ext cx="152400" cy="98425"/>
          </a:xfrm>
          <a:prstGeom prst="rect">
            <a:avLst/>
          </a:prstGeom>
        </p:spPr>
        <p:txBody>
          <a:bodyPr vert="horz" lIns="0" tIns="0" rIns="0" bIns="0" numCol="1" rtlCol="0" anchor="ctr"/>
          <a:lstStyle>
            <a:lvl1pPr algn="r">
              <a:defRPr sz="300">
                <a:solidFill>
                  <a:schemeClr val="accent4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7BCDC7-33E6-4E0D-8470-BD0036821924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009789" y="384048"/>
            <a:ext cx="711200" cy="616373"/>
          </a:xfrm>
          <a:prstGeom prst="rect">
            <a:avLst/>
          </a:prstGeom>
        </p:spPr>
      </p:pic>
    </p:spTree>
    <p:custDataLst>
      <p:tags r:id="rId4"/>
    </p:custDataLst>
    <p:extLst>
      <p:ext uri="{BB962C8B-B14F-4D97-AF65-F5344CB8AC3E}">
        <p14:creationId xmlns:p14="http://schemas.microsoft.com/office/powerpoint/2010/main" val="2764657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56" r:id="rId2"/>
  </p:sldLayoutIdLst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3200" ker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spcBef>
          <a:spcPts val="700"/>
        </a:spcBef>
        <a:buFont typeface="Arial" panose="020B0604020202020204" pitchFamily="34" charset="0"/>
        <a:buChar char="​"/>
        <a:defRPr sz="2400" kern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914400" rtl="0" eaLnBrk="1" latinLnBrk="0" hangingPunct="1">
        <a:spcBef>
          <a:spcPts val="700"/>
        </a:spcBef>
        <a:buFont typeface="Arial" panose="020B0604020202020204" pitchFamily="34" charset="0"/>
        <a:buChar char="•"/>
        <a:defRPr sz="2400" kern="0">
          <a:solidFill>
            <a:schemeClr val="tx1"/>
          </a:solidFill>
          <a:latin typeface="+mn-lt"/>
          <a:ea typeface="+mn-ea"/>
          <a:cs typeface="+mn-cs"/>
        </a:defRPr>
      </a:lvl3pPr>
      <a:lvl4pPr marL="50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–"/>
        <a:defRPr sz="2400" kern="0">
          <a:solidFill>
            <a:schemeClr val="tx1"/>
          </a:solidFill>
          <a:latin typeface="+mn-lt"/>
          <a:ea typeface="+mn-ea"/>
          <a:cs typeface="+mn-cs"/>
        </a:defRPr>
      </a:lvl4pPr>
      <a:lvl5pPr marL="756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5pPr>
      <a:lvl6pPr marL="1008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7pPr>
      <a:lvl8pPr marL="1512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8pPr>
      <a:lvl9pPr marL="1764000" indent="-252000" algn="l" defTabSz="914400" rtl="0" eaLnBrk="1" latinLnBrk="0" hangingPunct="1">
        <a:spcBef>
          <a:spcPts val="300"/>
        </a:spcBef>
        <a:buFont typeface="Arial" panose="020B0604020202020204" pitchFamily="34" charset="0"/>
        <a:buChar char="-"/>
        <a:defRPr sz="2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1pPr>
      <a:lvl2pPr marL="25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2pPr>
      <a:lvl3pPr marL="50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3pPr>
      <a:lvl4pPr marL="756000" algn="l" defTabSz="914400" rtl="0" eaLnBrk="1" latinLnBrk="0" hangingPunct="1">
        <a:defRPr sz="200" kern="0">
          <a:solidFill>
            <a:schemeClr val="tx1"/>
          </a:solidFill>
          <a:latin typeface="+mn-lt"/>
          <a:ea typeface="+mn-ea"/>
          <a:cs typeface="+mn-cs"/>
        </a:defRPr>
      </a:lvl4pPr>
      <a:lvl5pPr marL="1008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5pPr>
      <a:lvl6pPr marL="1260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6pPr>
      <a:lvl7pPr marL="1512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7pPr>
      <a:lvl8pPr marL="1764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8pPr>
      <a:lvl9pPr marL="2016000" algn="l" defTabSz="914400" rtl="0" eaLnBrk="1" latinLnBrk="0" hangingPunct="1">
        <a:defRPr sz="20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4" userDrawn="1">
          <p15:clr>
            <a:srgbClr val="C35EA4"/>
          </p15:clr>
        </p15:guide>
        <p15:guide id="2" pos="7328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0.png"/><Relationship Id="rId26" Type="http://schemas.openxmlformats.org/officeDocument/2006/relationships/image" Target="../media/image7.png"/><Relationship Id="rId3" Type="http://schemas.openxmlformats.org/officeDocument/2006/relationships/tags" Target="../tags/tag10.xml"/><Relationship Id="rId7" Type="http://schemas.openxmlformats.org/officeDocument/2006/relationships/image" Target="../media/image3.emf"/><Relationship Id="rId12" Type="http://schemas.openxmlformats.org/officeDocument/2006/relationships/slide" Target="slide10.xml"/><Relationship Id="rId25" Type="http://schemas.openxmlformats.org/officeDocument/2006/relationships/image" Target="../media/image90.png"/><Relationship Id="rId2" Type="http://schemas.openxmlformats.org/officeDocument/2006/relationships/tags" Target="../tags/tag9.xml"/><Relationship Id="rId29" Type="http://schemas.openxmlformats.org/officeDocument/2006/relationships/image" Target="../media/image8.png"/><Relationship Id="rId1" Type="http://schemas.openxmlformats.org/officeDocument/2006/relationships/tags" Target="../tags/tag8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png"/><Relationship Id="rId24" Type="http://schemas.openxmlformats.org/officeDocument/2006/relationships/slide" Target="slide3.xml"/><Relationship Id="rId5" Type="http://schemas.openxmlformats.org/officeDocument/2006/relationships/notesSlide" Target="../notesSlides/notesSlide1.xml"/><Relationship Id="rId28" Type="http://schemas.openxmlformats.org/officeDocument/2006/relationships/image" Target="../media/image100.png"/><Relationship Id="rId10" Type="http://schemas.openxmlformats.org/officeDocument/2006/relationships/image" Target="../media/image40.png"/><Relationship Id="rId31" Type="http://schemas.openxmlformats.org/officeDocument/2006/relationships/image" Target="../media/image110.png"/><Relationship Id="rId4" Type="http://schemas.openxmlformats.org/officeDocument/2006/relationships/slideLayout" Target="../slideLayouts/slideLayout2.xml"/><Relationship Id="rId9" Type="http://schemas.openxmlformats.org/officeDocument/2006/relationships/slide" Target="slide7.xml"/><Relationship Id="rId14" Type="http://schemas.openxmlformats.org/officeDocument/2006/relationships/image" Target="../media/image6.png"/><Relationship Id="rId27" Type="http://schemas.openxmlformats.org/officeDocument/2006/relationships/slide" Target="slide5.xml"/><Relationship Id="rId30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9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1.jp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.jp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2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3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30878-DBD3-456C-99A7-6C94BC8B5130}"/>
              </a:ext>
            </a:extLst>
          </p:cNvPr>
          <p:cNvSpPr txBox="1">
            <a:spLocks/>
          </p:cNvSpPr>
          <p:nvPr/>
        </p:nvSpPr>
        <p:spPr>
          <a:xfrm>
            <a:off x="630518" y="649942"/>
            <a:ext cx="10749280" cy="2275046"/>
          </a:xfrm>
          <a:prstGeom prst="rect">
            <a:avLst/>
          </a:prstGeom>
        </p:spPr>
        <p:txBody>
          <a:bodyPr lIns="0" tIns="0" rIns="0" bIns="0" numCol="1"/>
          <a:lstStyle>
            <a:lvl1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​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400" rtl="0" eaLnBrk="1" latinLnBrk="0" hangingPunct="1">
              <a:spcBef>
                <a:spcPts val="700"/>
              </a:spcBef>
              <a:buFont typeface="Arial" panose="020B0604020202020204" pitchFamily="34" charset="0"/>
              <a:buChar char="•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0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–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6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12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4000" indent="-25200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Char char="-"/>
              <a:defRPr sz="2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9600" dirty="0">
                <a:solidFill>
                  <a:schemeClr val="tx1"/>
                </a:solidFill>
              </a:rPr>
              <a:t>PROSTHETIC HAND USING EXG SENSOR</a:t>
            </a:r>
          </a:p>
          <a:p>
            <a:pPr>
              <a:lnSpc>
                <a:spcPct val="80000"/>
              </a:lnSpc>
              <a:buNone/>
            </a:pPr>
            <a:r>
              <a:rPr lang="en-US" sz="9600" dirty="0">
                <a:solidFill>
                  <a:schemeClr val="tx1"/>
                </a:solidFill>
              </a:rPr>
              <a:t>						  </a:t>
            </a:r>
            <a:r>
              <a:rPr lang="en-US" sz="3200" dirty="0">
                <a:solidFill>
                  <a:schemeClr val="accent1"/>
                </a:solidFill>
              </a:rPr>
              <a:t>By    Jano </a:t>
            </a:r>
            <a:r>
              <a:rPr lang="en-US" sz="3200" dirty="0" err="1">
                <a:solidFill>
                  <a:schemeClr val="accent1"/>
                </a:solidFill>
              </a:rPr>
              <a:t>koesh</a:t>
            </a:r>
            <a:r>
              <a:rPr lang="en-US" sz="3200" dirty="0">
                <a:solidFill>
                  <a:schemeClr val="accent1"/>
                </a:solidFill>
              </a:rPr>
              <a:t> 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912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2733E1C-109C-49C0-87D5-2F21369602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2733E1C-109C-49C0-87D5-2F2136960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CA4ACE5-10D3-415B-9571-45426C854FA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8000"/>
              </a:lnSpc>
              <a:spcBef>
                <a:spcPct val="0"/>
              </a:spcBef>
              <a:spcAft>
                <a:spcPct val="0"/>
              </a:spcAft>
            </a:pPr>
            <a:endParaRPr lang="en-US" sz="3200" kern="0" dirty="0" err="1">
              <a:solidFill>
                <a:schemeClr val="tx1"/>
              </a:solidFill>
              <a:latin typeface="Segoe UI Black" panose="020B0A02040204020203" pitchFamily="34" charset="0"/>
              <a:ea typeface="+mj-ea"/>
              <a:cs typeface="+mj-cs"/>
              <a:sym typeface="Segoe UI Black" panose="020B0A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36BFA-5538-4513-9B75-F06B323E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dirty="0"/>
              <a:t>AGENDA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0BC78-EA0F-4D0B-85C2-CDA92F978662}"/>
              </a:ext>
            </a:extLst>
          </p:cNvPr>
          <p:cNvSpPr txBox="1"/>
          <p:nvPr/>
        </p:nvSpPr>
        <p:spPr>
          <a:xfrm>
            <a:off x="868680" y="817372"/>
            <a:ext cx="2164054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1400" kern="0" dirty="0">
                <a:solidFill>
                  <a:schemeClr val="accent1"/>
                </a:solidFill>
              </a:rPr>
              <a:t>SIT BACK | RELAX | ENJOY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A5D89F-7E4B-484F-80BF-9905E5C9AF78}"/>
              </a:ext>
            </a:extLst>
          </p:cNvPr>
          <p:cNvSpPr txBox="1"/>
          <p:nvPr/>
        </p:nvSpPr>
        <p:spPr>
          <a:xfrm>
            <a:off x="890451" y="1705667"/>
            <a:ext cx="532197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>
            <a:defPPr>
              <a:defRPr lang="en-US"/>
            </a:defPPr>
            <a:lvl1pPr>
              <a:defRPr sz="1000" kern="0">
                <a:solidFill>
                  <a:schemeClr val="accent1"/>
                </a:solidFill>
              </a:defRPr>
            </a:lvl1pPr>
          </a:lstStyle>
          <a:p>
            <a:r>
              <a:rPr lang="de-DE" altLang="de-DE" sz="1400" dirty="0"/>
              <a:t>iNTRO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92D6CE-8AB5-46B4-8DCC-4CD105CE615F}"/>
              </a:ext>
            </a:extLst>
          </p:cNvPr>
          <p:cNvSpPr txBox="1"/>
          <p:nvPr/>
        </p:nvSpPr>
        <p:spPr>
          <a:xfrm>
            <a:off x="6001932" y="1766130"/>
            <a:ext cx="477695" cy="21544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>
            <a:defPPr>
              <a:defRPr lang="en-US"/>
            </a:defPPr>
            <a:lvl1pPr>
              <a:defRPr sz="1000" kern="0">
                <a:solidFill>
                  <a:schemeClr val="accent1"/>
                </a:solidFill>
              </a:defRPr>
            </a:lvl1pPr>
          </a:lstStyle>
          <a:p>
            <a:r>
              <a:rPr lang="de-DE" altLang="de-DE" sz="1400" dirty="0"/>
              <a:t>BODY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ADB52E6A-0FB6-42B7-A9B6-85F8DC9CB2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2286096"/>
                  </p:ext>
                </p:extLst>
              </p:nvPr>
            </p:nvGraphicFramePr>
            <p:xfrm>
              <a:off x="7453874" y="2128499"/>
              <a:ext cx="1463040" cy="822960"/>
            </p:xfrm>
            <a:graphic>
              <a:graphicData uri="http://schemas.microsoft.com/office/powerpoint/2016/sectionzoom">
                <psez:sectionZm>
                  <psez:sectionZmObj sectionId="{FD1E6B44-63E4-4285-A079-29EC5D274920}">
                    <psez:zmPr id="{D926C555-14A8-46F5-8AE6-0D11A2768BCA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DB52E6A-0FB6-42B7-A9B6-85F8DC9CB2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3874" y="2128499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134683BA-80C1-4EEF-871C-B398849770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7473282"/>
                  </p:ext>
                </p:extLst>
              </p:nvPr>
            </p:nvGraphicFramePr>
            <p:xfrm>
              <a:off x="5650175" y="2172950"/>
              <a:ext cx="1463040" cy="822960"/>
            </p:xfrm>
            <a:graphic>
              <a:graphicData uri="http://schemas.microsoft.com/office/powerpoint/2016/sectionzoom">
                <psez:sectionZm>
                  <psez:sectionZmObj sectionId="{BD0AB789-343F-4F3E-AB6C-9DEB37B93BF8}">
                    <psez:zmPr id="{B51BB371-3F87-41EB-AF53-9A10081CCEEB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134683BA-80C1-4EEF-871C-B398849770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50175" y="2172950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AEE89D57-D776-411D-8896-742240C050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2987331"/>
                  </p:ext>
                </p:extLst>
              </p:nvPr>
            </p:nvGraphicFramePr>
            <p:xfrm>
              <a:off x="890451" y="2266950"/>
              <a:ext cx="1463040" cy="822960"/>
            </p:xfrm>
            <a:graphic>
              <a:graphicData uri="http://schemas.microsoft.com/office/powerpoint/2016/slidezoom">
                <pslz:sldZm>
                  <pslz:sldZmObj sldId="258" cId="1577662384">
                    <pslz:zmPr id="{2B1AFEA9-5748-4715-A442-AC3FF983E002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AEE89D57-D776-411D-8896-742240C050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0451" y="2266950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F6A1FF00-E582-4810-B35A-AE561CB331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8667108"/>
                  </p:ext>
                </p:extLst>
              </p:nvPr>
            </p:nvGraphicFramePr>
            <p:xfrm>
              <a:off x="890451" y="3186833"/>
              <a:ext cx="1463040" cy="822960"/>
            </p:xfrm>
            <a:graphic>
              <a:graphicData uri="http://schemas.microsoft.com/office/powerpoint/2016/slidezoom">
                <pslz:sldZm>
                  <pslz:sldZmObj sldId="259" cId="2362446551">
                    <pslz:zmPr id="{963233F1-FE5E-451D-961C-22A20AA01AD4}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F6A1FF00-E582-4810-B35A-AE561CB331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0451" y="3186833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0" name="Slide Zoom 29">
                <a:extLst>
                  <a:ext uri="{FF2B5EF4-FFF2-40B4-BE49-F238E27FC236}">
                    <a16:creationId xmlns:a16="http://schemas.microsoft.com/office/drawing/2014/main" id="{6C0617A1-19DC-4C19-AC5A-35D3CABF16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543352"/>
                  </p:ext>
                </p:extLst>
              </p:nvPr>
            </p:nvGraphicFramePr>
            <p:xfrm>
              <a:off x="890451" y="4106717"/>
              <a:ext cx="1463040" cy="822960"/>
            </p:xfrm>
            <a:graphic>
              <a:graphicData uri="http://schemas.microsoft.com/office/powerpoint/2016/slidezoom">
                <pslz:sldZm>
                  <pslz:sldZmObj sldId="260" cId="676304674">
                    <pslz:zmPr id="{C9C54784-E90D-4D44-BDEB-4D863292A2D0}" transitionDur="1000">
                      <p166:blipFill xmlns:p166="http://schemas.microsoft.com/office/powerpoint/2016/6/main">
                        <a:blip r:embed="rId2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3040" cy="82296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63500" sx="103000" sy="103000" algn="ctr" rotWithShape="0">
                            <a:schemeClr val="tx1">
                              <a:alpha val="10000"/>
                            </a:schemeClr>
                          </a:outerShdw>
                        </a:effectLst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0" name="Slide Zoom 29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6C0617A1-19DC-4C19-AC5A-35D3CABF16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451" y="4106717"/>
                <a:ext cx="1463040" cy="822960"/>
              </a:xfrm>
              <a:prstGeom prst="rect">
                <a:avLst/>
              </a:prstGeom>
              <a:ln w="3175">
                <a:noFill/>
              </a:ln>
              <a:effectLst>
                <a:outerShdw blurRad="63500" sx="103000" sy="103000" algn="ctr" rotWithShape="0">
                  <a:schemeClr val="tx1">
                    <a:alpha val="10000"/>
                  </a:schemeClr>
                </a:outerShdw>
              </a:effectLst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287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412341"/>
            <a:ext cx="6691086" cy="40333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5604380" y="1058488"/>
            <a:ext cx="5097132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de-DE" altLang="de-DE" sz="3600" dirty="0">
                <a:latin typeface="+mj-lt"/>
              </a:rPr>
              <a:t>	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781591" y="2166484"/>
            <a:ext cx="6382260" cy="2954655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400" dirty="0">
                <a:solidFill>
                  <a:schemeClr val="accent5"/>
                </a:solidFill>
              </a:rPr>
              <a:t>PROSTHETIC HAND  is a technology which</a:t>
            </a:r>
            <a:br>
              <a:rPr lang="de-DE" altLang="de-DE" sz="2400" dirty="0">
                <a:solidFill>
                  <a:schemeClr val="accent5"/>
                </a:solidFill>
              </a:rPr>
            </a:br>
            <a:r>
              <a:rPr lang="de-DE" altLang="de-DE" sz="2400" dirty="0">
                <a:solidFill>
                  <a:schemeClr val="accent5"/>
                </a:solidFill>
              </a:rPr>
              <a:t>helps to </a:t>
            </a:r>
            <a:r>
              <a:rPr lang="de-DE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enhance the life style oh limbloss </a:t>
            </a:r>
          </a:p>
          <a:p>
            <a:r>
              <a:rPr lang="de-DE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people</a:t>
            </a:r>
            <a:r>
              <a:rPr lang="de-DE" altLang="de-DE" sz="2400" dirty="0">
                <a:solidFill>
                  <a:schemeClr val="accent5"/>
                </a:solidFill>
              </a:rPr>
              <a:t>.</a:t>
            </a:r>
            <a:endParaRPr lang="en-US" altLang="de-DE" sz="2400" dirty="0">
              <a:solidFill>
                <a:schemeClr val="accent5"/>
              </a:solidFill>
            </a:endParaRPr>
          </a:p>
          <a:p>
            <a:endParaRPr lang="en-US" altLang="de-DE" sz="2400" dirty="0">
              <a:solidFill>
                <a:schemeClr val="accent5"/>
              </a:solidFill>
            </a:endParaRPr>
          </a:p>
          <a:p>
            <a:r>
              <a:rPr lang="en-US" altLang="de-DE" sz="2400" dirty="0">
                <a:solidFill>
                  <a:schemeClr val="accent5"/>
                </a:solidFill>
              </a:rPr>
              <a:t>Ongoing research and innovation in this field 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contribute to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overall improvement of</a:t>
            </a:r>
          </a:p>
          <a:p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human lifestyle </a:t>
            </a:r>
            <a:r>
              <a:rPr lang="en-US" altLang="de-DE" sz="2400" dirty="0">
                <a:solidFill>
                  <a:schemeClr val="accent5"/>
                </a:solidFill>
              </a:rPr>
              <a:t>and well-being.</a:t>
            </a:r>
            <a:endParaRPr lang="de-DE" altLang="de-DE" sz="24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7719D-A237-3ED2-CAD8-9D0D98CE98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5082" y="1661065"/>
            <a:ext cx="3807185" cy="36088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766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412341"/>
            <a:ext cx="6691086" cy="40333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2960783" y="425949"/>
            <a:ext cx="5097132" cy="55399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algn="ctr"/>
            <a:r>
              <a:rPr lang="de-DE" altLang="de-DE" sz="3600" dirty="0">
                <a:latin typeface="+mj-lt"/>
              </a:rPr>
              <a:t>Existing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1882677" y="4936345"/>
            <a:ext cx="2336794" cy="73866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IN" altLang="de-DE" sz="2400" dirty="0">
                <a:solidFill>
                  <a:schemeClr val="accent5"/>
                </a:solidFill>
              </a:rPr>
              <a:t>Flex based hand </a:t>
            </a:r>
            <a:endParaRPr lang="de-DE" altLang="de-DE" sz="24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7719D-A237-3ED2-CAD8-9D0D98CE98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9216" y="2084521"/>
            <a:ext cx="4329231" cy="24351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B898CD-21D2-0613-B918-4EA77F8866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79458" y="1994680"/>
            <a:ext cx="3592803" cy="26946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5E7E2F-ED73-EA55-C107-84CE99091CB0}"/>
              </a:ext>
            </a:extLst>
          </p:cNvPr>
          <p:cNvSpPr txBox="1"/>
          <p:nvPr/>
        </p:nvSpPr>
        <p:spPr>
          <a:xfrm>
            <a:off x="6751235" y="4936345"/>
            <a:ext cx="2442592" cy="73866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IN" altLang="de-DE" sz="2400" dirty="0">
                <a:solidFill>
                  <a:schemeClr val="accent5"/>
                </a:solidFill>
              </a:rPr>
              <a:t>EMG based hand </a:t>
            </a:r>
            <a:endParaRPr lang="de-DE" altLang="de-DE" sz="24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4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629624"/>
            <a:ext cx="6691086" cy="35987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3694153" y="374189"/>
            <a:ext cx="6504986" cy="110799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dirty="0">
                <a:latin typeface="+mj-lt"/>
              </a:rPr>
              <a:t>Proposed method(2 models)</a:t>
            </a:r>
          </a:p>
          <a:p>
            <a:r>
              <a:rPr lang="de-DE" altLang="de-DE" sz="3600" dirty="0">
                <a:latin typeface="+mj-lt"/>
              </a:rPr>
              <a:t>	    </a:t>
            </a:r>
            <a:r>
              <a:rPr lang="de-DE" altLang="de-DE" sz="2000" dirty="0">
                <a:latin typeface="+mj-lt"/>
              </a:rPr>
              <a:t>MODEL 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723554" y="1893810"/>
            <a:ext cx="6390467" cy="2954655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400" dirty="0">
                <a:solidFill>
                  <a:schemeClr val="accent5"/>
                </a:solidFill>
              </a:rPr>
              <a:t>Open cv is used to </a:t>
            </a:r>
            <a:r>
              <a:rPr lang="de-DE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imitate the human hand 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 behavior.They are highly responsive </a:t>
            </a:r>
          </a:p>
          <a:p>
            <a:r>
              <a:rPr lang="de-DE" altLang="de-DE" sz="2400" dirty="0">
                <a:solidFill>
                  <a:schemeClr val="tx2"/>
                </a:solidFill>
              </a:rPr>
              <a:t>Use :	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         This can be used in Automobile industry</a:t>
            </a:r>
          </a:p>
          <a:p>
            <a:r>
              <a:rPr lang="de-DE" altLang="de-DE" sz="2400" dirty="0">
                <a:solidFill>
                  <a:schemeClr val="tx2"/>
                </a:solidFill>
              </a:rPr>
              <a:t>Flow Chart :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	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	</a:t>
            </a:r>
          </a:p>
          <a:p>
            <a:endParaRPr lang="de-DE" altLang="de-DE" sz="24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40319-1925-9FFC-A841-600AF3DF18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4269" y="2166484"/>
            <a:ext cx="4234364" cy="2854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5307C5-0B38-13C9-F3F0-22E565DC9FF7}"/>
              </a:ext>
            </a:extLst>
          </p:cNvPr>
          <p:cNvSpPr txBox="1"/>
          <p:nvPr/>
        </p:nvSpPr>
        <p:spPr>
          <a:xfrm>
            <a:off x="2111965" y="5379287"/>
            <a:ext cx="1158972" cy="30777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000" dirty="0">
                <a:latin typeface="+mj-lt"/>
              </a:rPr>
              <a:t>OPEN-CV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167793-0E70-649A-06B3-735B3B682B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2022" t="12478" b="25137"/>
          <a:stretch/>
        </p:blipFill>
        <p:spPr>
          <a:xfrm>
            <a:off x="6987186" y="3834419"/>
            <a:ext cx="3867758" cy="24919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244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18B07EE-A45E-4446-A223-5B883B13E13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18B07EE-A45E-4446-A223-5B883B13E1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8813BB-D448-4521-9F33-B74EFDC2BCD9}"/>
              </a:ext>
            </a:extLst>
          </p:cNvPr>
          <p:cNvSpPr/>
          <p:nvPr/>
        </p:nvSpPr>
        <p:spPr>
          <a:xfrm>
            <a:off x="5393227" y="2166484"/>
            <a:ext cx="5524168" cy="25980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6F08B3-37B7-4D5C-80DD-85ECEA54CD23}"/>
              </a:ext>
            </a:extLst>
          </p:cNvPr>
          <p:cNvSpPr/>
          <p:nvPr/>
        </p:nvSpPr>
        <p:spPr>
          <a:xfrm>
            <a:off x="5500914" y="1566250"/>
            <a:ext cx="6691086" cy="3725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833B0-BA71-4453-853F-974C3C7535A2}"/>
              </a:ext>
            </a:extLst>
          </p:cNvPr>
          <p:cNvSpPr txBox="1"/>
          <p:nvPr/>
        </p:nvSpPr>
        <p:spPr>
          <a:xfrm>
            <a:off x="3620207" y="181255"/>
            <a:ext cx="3761414" cy="1107996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3600" dirty="0"/>
              <a:t>Proposed method</a:t>
            </a:r>
          </a:p>
          <a:p>
            <a:r>
              <a:rPr lang="de-DE" altLang="de-DE" sz="3600" b="1" dirty="0"/>
              <a:t>	    </a:t>
            </a:r>
            <a:r>
              <a:rPr lang="de-DE" altLang="de-DE" sz="2000" b="1" dirty="0"/>
              <a:t>MODEL :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D49EC-E6A4-4053-A5B4-CB9DBB8C3F88}"/>
              </a:ext>
            </a:extLst>
          </p:cNvPr>
          <p:cNvSpPr txBox="1"/>
          <p:nvPr/>
        </p:nvSpPr>
        <p:spPr>
          <a:xfrm>
            <a:off x="5643733" y="1687354"/>
            <a:ext cx="6549485" cy="4062651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en-US" altLang="de-DE" sz="2400" dirty="0">
                <a:solidFill>
                  <a:schemeClr val="accent5"/>
                </a:solidFill>
              </a:rPr>
              <a:t>The EXG Sensor can measure 1 or 2 channels of</a:t>
            </a:r>
          </a:p>
          <a:p>
            <a:r>
              <a:rPr lang="en-US" altLang="de-DE" sz="2400" dirty="0">
                <a:solidFill>
                  <a:schemeClr val="accent5"/>
                </a:solidFill>
              </a:rPr>
              <a:t> bipolar ExG for </a:t>
            </a:r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measuring brain activity,</a:t>
            </a:r>
          </a:p>
          <a:p>
            <a:r>
              <a:rPr lang="en-US" altLang="de-DE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muscle activity</a:t>
            </a:r>
            <a:r>
              <a:rPr lang="en-US" altLang="de-DE" sz="2400" dirty="0">
                <a:solidFill>
                  <a:schemeClr val="accent5"/>
                </a:solidFill>
              </a:rPr>
              <a:t>, eye movement or heart rate</a:t>
            </a:r>
            <a:endParaRPr lang="de-DE" altLang="de-DE" sz="2400" dirty="0">
              <a:solidFill>
                <a:schemeClr val="accent5"/>
              </a:solidFill>
            </a:endParaRPr>
          </a:p>
          <a:p>
            <a:endParaRPr lang="de-DE" altLang="de-DE" sz="2400" dirty="0">
              <a:solidFill>
                <a:schemeClr val="accent5"/>
              </a:solidFill>
            </a:endParaRPr>
          </a:p>
          <a:p>
            <a:r>
              <a:rPr lang="de-DE" altLang="de-DE" sz="2400" u="sng" dirty="0"/>
              <a:t>Use :</a:t>
            </a:r>
          </a:p>
          <a:p>
            <a:endParaRPr lang="de-DE" altLang="de-DE" sz="2400" u="sng" dirty="0">
              <a:solidFill>
                <a:schemeClr val="accent5"/>
              </a:solidFill>
            </a:endParaRPr>
          </a:p>
          <a:p>
            <a:r>
              <a:rPr lang="de-DE" altLang="de-DE" sz="2400" dirty="0">
                <a:solidFill>
                  <a:schemeClr val="accent5"/>
                </a:solidFill>
              </a:rPr>
              <a:t>        This is  applyed in PROSTHETIC HAND to 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        get reading from brain activity, muscle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        activity 	 	 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	 </a:t>
            </a:r>
          </a:p>
          <a:p>
            <a:r>
              <a:rPr lang="de-DE" altLang="de-DE" sz="2400" dirty="0">
                <a:solidFill>
                  <a:schemeClr val="accent5"/>
                </a:solidFill>
              </a:rPr>
              <a:t>  </a:t>
            </a:r>
          </a:p>
        </p:txBody>
      </p:sp>
      <p:pic>
        <p:nvPicPr>
          <p:cNvPr id="19472" name="Picture 16">
            <a:extLst>
              <a:ext uri="{FF2B5EF4-FFF2-40B4-BE49-F238E27FC236}">
                <a16:creationId xmlns:a16="http://schemas.microsoft.com/office/drawing/2014/main" id="{514926AF-4E5B-6E89-53EC-50D8C6AC1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r="49202"/>
          <a:stretch/>
        </p:blipFill>
        <p:spPr bwMode="auto">
          <a:xfrm>
            <a:off x="1199518" y="1916208"/>
            <a:ext cx="3366018" cy="328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CE0393-F388-6A1F-02AC-090206A84F33}"/>
              </a:ext>
            </a:extLst>
          </p:cNvPr>
          <p:cNvSpPr txBox="1"/>
          <p:nvPr/>
        </p:nvSpPr>
        <p:spPr>
          <a:xfrm>
            <a:off x="2361551" y="5272488"/>
            <a:ext cx="1041952" cy="553998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pPr algn="r"/>
            <a:r>
              <a:rPr lang="de-DE" altLang="de-DE" sz="3600" dirty="0">
                <a:latin typeface="+mj-lt"/>
              </a:rPr>
              <a:t>EXG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17493-D9A3-EF42-8857-D2CD358BA2A0}"/>
              </a:ext>
            </a:extLst>
          </p:cNvPr>
          <p:cNvSpPr txBox="1"/>
          <p:nvPr/>
        </p:nvSpPr>
        <p:spPr>
          <a:xfrm>
            <a:off x="5837911" y="2932076"/>
            <a:ext cx="65" cy="369332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endParaRPr lang="de-DE" altLang="de-DE" sz="2400" dirty="0">
              <a:solidFill>
                <a:schemeClr val="accent5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630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7561942" y="0"/>
            <a:ext cx="4630057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595214" y="545305"/>
            <a:ext cx="1882310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/>
              <a:t>Objective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73559-491A-4614-A844-496762024E0B}"/>
              </a:ext>
            </a:extLst>
          </p:cNvPr>
          <p:cNvSpPr txBox="1"/>
          <p:nvPr/>
        </p:nvSpPr>
        <p:spPr>
          <a:xfrm>
            <a:off x="595214" y="1463257"/>
            <a:ext cx="6056086" cy="4431983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US" altLang="de-DE" sz="2400" dirty="0"/>
              <a:t>AI-driven Prosthetic Systems Utilizing OpenCV</a:t>
            </a:r>
          </a:p>
          <a:p>
            <a:endParaRPr lang="en-US" altLang="de-DE" sz="2400" dirty="0"/>
          </a:p>
          <a:p>
            <a:r>
              <a:rPr lang="en-US" altLang="de-DE" sz="2400" dirty="0"/>
              <a:t>Enhancing User Independence and Functionality</a:t>
            </a:r>
          </a:p>
          <a:p>
            <a:endParaRPr lang="en-US" altLang="de-DE" sz="2400" dirty="0"/>
          </a:p>
          <a:p>
            <a:r>
              <a:rPr lang="en-US" altLang="de-DE" sz="2400" dirty="0"/>
              <a:t>Optimization of ExG Sensor Capabilities</a:t>
            </a:r>
          </a:p>
          <a:p>
            <a:endParaRPr lang="en-US" altLang="de-DE" sz="2400" dirty="0"/>
          </a:p>
          <a:p>
            <a:r>
              <a:rPr lang="en-US" altLang="de-DE" sz="2400" dirty="0"/>
              <a:t>Give voice accessibility in PROSTHETIC HAND</a:t>
            </a:r>
          </a:p>
          <a:p>
            <a:endParaRPr lang="en-US" altLang="de-DE" sz="2400" dirty="0"/>
          </a:p>
          <a:p>
            <a:endParaRPr lang="en-US" altLang="de-DE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7203D-3153-48DC-8594-E6178C5E29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370" t="-561" r="33630" b="561"/>
          <a:stretch/>
        </p:blipFill>
        <p:spPr>
          <a:xfrm>
            <a:off x="6212116" y="1683656"/>
            <a:ext cx="4441372" cy="4441372"/>
          </a:xfrm>
          <a:prstGeom prst="ellipse">
            <a:avLst/>
          </a:prstGeom>
          <a:ln w="22225">
            <a:solidFill>
              <a:schemeClr val="bg2"/>
            </a:solidFill>
          </a:ln>
        </p:spPr>
      </p:pic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95215" y="5809130"/>
            <a:ext cx="228600" cy="228600"/>
          </a:xfrm>
          <a:prstGeom prst="ellipse">
            <a:avLst/>
          </a:prstGeom>
          <a:solidFill>
            <a:srgbClr val="0A5F74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94634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1297469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85DD9D-8871-414C-A4F6-F52E6DE69C3A}"/>
              </a:ext>
            </a:extLst>
          </p:cNvPr>
          <p:cNvSpPr/>
          <p:nvPr/>
        </p:nvSpPr>
        <p:spPr>
          <a:xfrm>
            <a:off x="1648596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C524F8-51A9-4142-B10B-2FCD35209B09}"/>
              </a:ext>
            </a:extLst>
          </p:cNvPr>
          <p:cNvSpPr/>
          <p:nvPr/>
        </p:nvSpPr>
        <p:spPr>
          <a:xfrm>
            <a:off x="199972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CE5E58-F806-443A-840F-4982B48917A1}"/>
              </a:ext>
            </a:extLst>
          </p:cNvPr>
          <p:cNvSpPr/>
          <p:nvPr/>
        </p:nvSpPr>
        <p:spPr>
          <a:xfrm>
            <a:off x="-4736845" y="0"/>
            <a:ext cx="4630057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71C102C-BCBE-4345-8440-849CA7EAA95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008" t="16550" r="41229" b="2029"/>
          <a:stretch/>
        </p:blipFill>
        <p:spPr>
          <a:xfrm>
            <a:off x="-7364649" y="1635541"/>
            <a:ext cx="4476626" cy="4587460"/>
          </a:xfrm>
          <a:prstGeom prst="ellipse">
            <a:avLst/>
          </a:prstGeom>
          <a:ln>
            <a:solidFill>
              <a:schemeClr val="bg2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CA50CB1-726A-4F7E-A67D-FC5B3BD20DA1}"/>
              </a:ext>
            </a:extLst>
          </p:cNvPr>
          <p:cNvSpPr txBox="1"/>
          <p:nvPr/>
        </p:nvSpPr>
        <p:spPr>
          <a:xfrm>
            <a:off x="-8380656" y="760749"/>
            <a:ext cx="1725152" cy="1015663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r>
              <a:rPr lang="de-DE" altLang="de-DE" sz="6000" dirty="0"/>
              <a:t>23%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744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82ED0F6-80F0-48FE-AAEF-C8FBAA758E53}"/>
              </a:ext>
            </a:extLst>
          </p:cNvPr>
          <p:cNvSpPr/>
          <p:nvPr/>
        </p:nvSpPr>
        <p:spPr>
          <a:xfrm>
            <a:off x="12268457" y="0"/>
            <a:ext cx="4630057" cy="69078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5374395" y="201494"/>
            <a:ext cx="2902654" cy="615553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4000" spc="300" dirty="0">
                <a:solidFill>
                  <a:schemeClr val="accent5"/>
                </a:solidFill>
              </a:rPr>
              <a:t>References</a:t>
            </a:r>
            <a:endParaRPr lang="de-DE" altLang="de-DE" sz="3600" spc="300" dirty="0">
              <a:solidFill>
                <a:schemeClr val="accent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73559-491A-4614-A844-496762024E0B}"/>
              </a:ext>
            </a:extLst>
          </p:cNvPr>
          <p:cNvSpPr txBox="1"/>
          <p:nvPr/>
        </p:nvSpPr>
        <p:spPr>
          <a:xfrm>
            <a:off x="5421214" y="1029314"/>
            <a:ext cx="6056086" cy="5539978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r>
              <a:rPr lang="en-US" sz="2400" dirty="0" err="1"/>
              <a:t>Hiader</a:t>
            </a:r>
            <a:r>
              <a:rPr lang="en-US" sz="2400" dirty="0"/>
              <a:t>, S. A. A., Nasir, A., Ameen, M., Raza, A., Waleed, A., &amp; Ali, Z. (2021, November). Design and Development of Low Cost, Wireless Controlled, 3D Prosthetic Hand using Flex Sensors. In 2021 International Conference on Innovative Computing (ICIC) (pp. 1-6). IEEE.</a:t>
            </a:r>
          </a:p>
          <a:p>
            <a:endParaRPr lang="en-US" sz="2400" dirty="0"/>
          </a:p>
          <a:p>
            <a:r>
              <a:rPr lang="en-US" sz="2400" dirty="0"/>
              <a:t>Development of EMG based Prosthetic </a:t>
            </a:r>
            <a:r>
              <a:rPr lang="en-US" sz="2400" dirty="0" err="1"/>
              <a:t>Arm,Ashik</a:t>
            </a:r>
            <a:r>
              <a:rPr lang="en-US" sz="2400" dirty="0"/>
              <a:t> Ali </a:t>
            </a:r>
            <a:r>
              <a:rPr lang="en-US" sz="2400" dirty="0" err="1"/>
              <a:t>Abdhul</a:t>
            </a:r>
            <a:r>
              <a:rPr lang="en-US" sz="2400" dirty="0"/>
              <a:t>; Deepika Subramani; </a:t>
            </a:r>
            <a:r>
              <a:rPr lang="en-US" sz="2400" dirty="0" err="1"/>
              <a:t>Janarthanan</a:t>
            </a:r>
            <a:r>
              <a:rPr lang="en-US" sz="2400" dirty="0"/>
              <a:t> Ganesan; Sadhana Subramaniam; K.G. Dharani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7203D-3153-48DC-8594-E6178C5E29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212" r="19786"/>
          <a:stretch/>
        </p:blipFill>
        <p:spPr>
          <a:xfrm>
            <a:off x="12778016" y="1683656"/>
            <a:ext cx="4441372" cy="4441372"/>
          </a:xfrm>
          <a:prstGeom prst="ellipse">
            <a:avLst/>
          </a:prstGeom>
          <a:ln w="22225">
            <a:solidFill>
              <a:schemeClr val="bg2"/>
            </a:solidFill>
          </a:ln>
        </p:spPr>
      </p:pic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421215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772342" y="580913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123469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85DD9D-8871-414C-A4F6-F52E6DE69C3A}"/>
              </a:ext>
            </a:extLst>
          </p:cNvPr>
          <p:cNvSpPr/>
          <p:nvPr/>
        </p:nvSpPr>
        <p:spPr>
          <a:xfrm>
            <a:off x="6474596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C524F8-51A9-4142-B10B-2FCD35209B09}"/>
              </a:ext>
            </a:extLst>
          </p:cNvPr>
          <p:cNvSpPr/>
          <p:nvPr/>
        </p:nvSpPr>
        <p:spPr>
          <a:xfrm>
            <a:off x="682572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61413C-0C96-47F1-9D1F-4D0C70AD3634}"/>
              </a:ext>
            </a:extLst>
          </p:cNvPr>
          <p:cNvSpPr txBox="1"/>
          <p:nvPr/>
        </p:nvSpPr>
        <p:spPr>
          <a:xfrm>
            <a:off x="13273550" y="817047"/>
            <a:ext cx="1725152" cy="1015663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r>
              <a:rPr lang="de-DE" altLang="de-DE" sz="6000" dirty="0">
                <a:solidFill>
                  <a:schemeClr val="bg1"/>
                </a:solidFill>
              </a:rPr>
              <a:t>75%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C31449-A6DD-47DD-912E-64882D9E16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39" b="1039"/>
          <a:stretch/>
        </p:blipFill>
        <p:spPr>
          <a:xfrm>
            <a:off x="558207" y="1635541"/>
            <a:ext cx="4476626" cy="4587460"/>
          </a:xfrm>
          <a:prstGeom prst="ellipse">
            <a:avLst/>
          </a:prstGeom>
          <a:ln>
            <a:solidFill>
              <a:schemeClr val="bg2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27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5280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82ED0F6-80F0-48FE-AAEF-C8FBAA758E53}"/>
              </a:ext>
            </a:extLst>
          </p:cNvPr>
          <p:cNvSpPr/>
          <p:nvPr/>
        </p:nvSpPr>
        <p:spPr>
          <a:xfrm>
            <a:off x="12268457" y="0"/>
            <a:ext cx="4630057" cy="69078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1590B-2C43-48AA-A658-23ED991032C7}"/>
              </a:ext>
            </a:extLst>
          </p:cNvPr>
          <p:cNvSpPr/>
          <p:nvPr/>
        </p:nvSpPr>
        <p:spPr>
          <a:xfrm>
            <a:off x="0" y="0"/>
            <a:ext cx="4630057" cy="6858000"/>
          </a:xfrm>
          <a:prstGeom prst="rect">
            <a:avLst/>
          </a:prstGeom>
          <a:solidFill>
            <a:srgbClr val="A8DA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de-DE" alt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5262775" y="470451"/>
            <a:ext cx="1362681" cy="430887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rgbClr val="079B84"/>
                </a:solidFill>
              </a:rPr>
              <a:t>Result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7203D-3153-48DC-8594-E6178C5E29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212" r="19786"/>
          <a:stretch/>
        </p:blipFill>
        <p:spPr>
          <a:xfrm>
            <a:off x="12778016" y="1683656"/>
            <a:ext cx="4441372" cy="4441372"/>
          </a:xfrm>
          <a:prstGeom prst="ellipse">
            <a:avLst/>
          </a:prstGeom>
          <a:ln w="22225">
            <a:solidFill>
              <a:schemeClr val="bg2"/>
            </a:solidFill>
          </a:ln>
        </p:spPr>
      </p:pic>
      <p:sp>
        <p:nvSpPr>
          <p:cNvPr id="9" name="!!Oval 8">
            <a:extLst>
              <a:ext uri="{FF2B5EF4-FFF2-40B4-BE49-F238E27FC236}">
                <a16:creationId xmlns:a16="http://schemas.microsoft.com/office/drawing/2014/main" id="{67191FB7-1694-4872-81F9-FE7754259935}"/>
              </a:ext>
            </a:extLst>
          </p:cNvPr>
          <p:cNvSpPr/>
          <p:nvPr/>
        </p:nvSpPr>
        <p:spPr>
          <a:xfrm>
            <a:off x="5421215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8" name="!!Oval 17">
            <a:extLst>
              <a:ext uri="{FF2B5EF4-FFF2-40B4-BE49-F238E27FC236}">
                <a16:creationId xmlns:a16="http://schemas.microsoft.com/office/drawing/2014/main" id="{3ADE76D0-3EF0-4443-9FE4-F69DF5A6352C}"/>
              </a:ext>
            </a:extLst>
          </p:cNvPr>
          <p:cNvSpPr/>
          <p:nvPr/>
        </p:nvSpPr>
        <p:spPr>
          <a:xfrm>
            <a:off x="577234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9" name="!!Oval 18">
            <a:extLst>
              <a:ext uri="{FF2B5EF4-FFF2-40B4-BE49-F238E27FC236}">
                <a16:creationId xmlns:a16="http://schemas.microsoft.com/office/drawing/2014/main" id="{80E8ABFB-5DA4-4C32-AD2D-EF2F8AC7D995}"/>
              </a:ext>
            </a:extLst>
          </p:cNvPr>
          <p:cNvSpPr/>
          <p:nvPr/>
        </p:nvSpPr>
        <p:spPr>
          <a:xfrm>
            <a:off x="6123469" y="5809130"/>
            <a:ext cx="228600" cy="228600"/>
          </a:xfrm>
          <a:prstGeom prst="ellipse">
            <a:avLst/>
          </a:prstGeom>
          <a:solidFill>
            <a:srgbClr val="079B84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85DD9D-8871-414C-A4F6-F52E6DE69C3A}"/>
              </a:ext>
            </a:extLst>
          </p:cNvPr>
          <p:cNvSpPr/>
          <p:nvPr/>
        </p:nvSpPr>
        <p:spPr>
          <a:xfrm>
            <a:off x="6474596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C524F8-51A9-4142-B10B-2FCD35209B09}"/>
              </a:ext>
            </a:extLst>
          </p:cNvPr>
          <p:cNvSpPr/>
          <p:nvPr/>
        </p:nvSpPr>
        <p:spPr>
          <a:xfrm>
            <a:off x="6825722" y="5809130"/>
            <a:ext cx="228600" cy="228600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numCol="1" rtlCol="0" anchor="ctr"/>
          <a:lstStyle/>
          <a:p>
            <a:pPr algn="ctr"/>
            <a:endParaRPr lang="de-DE" altLang="de-DE" sz="1000" kern="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61413C-0C96-47F1-9D1F-4D0C70AD3634}"/>
              </a:ext>
            </a:extLst>
          </p:cNvPr>
          <p:cNvSpPr txBox="1"/>
          <p:nvPr/>
        </p:nvSpPr>
        <p:spPr>
          <a:xfrm>
            <a:off x="13273550" y="817047"/>
            <a:ext cx="1725152" cy="1015663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r>
              <a:rPr lang="de-DE" altLang="de-DE" sz="6000" dirty="0">
                <a:solidFill>
                  <a:schemeClr val="bg1"/>
                </a:solidFill>
              </a:rPr>
              <a:t>75%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184087C-95F7-481E-AB38-E0F9F79989F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2" r="82"/>
          <a:stretch/>
        </p:blipFill>
        <p:spPr>
          <a:xfrm>
            <a:off x="484536" y="1683655"/>
            <a:ext cx="4531902" cy="4539346"/>
          </a:xfrm>
          <a:prstGeom prst="ellipse">
            <a:avLst/>
          </a:prstGeom>
          <a:ln>
            <a:solidFill>
              <a:schemeClr val="bg2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1E6BF9-B90A-AC52-D3F4-A200779338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6642" y="1409456"/>
            <a:ext cx="5362057" cy="43057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242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B414BE1-A1FD-4E35-A269-876F637B66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B414BE1-A1FD-4E35-A269-876F637B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9C22D2-90FE-454B-B032-E42C3279131E}"/>
              </a:ext>
            </a:extLst>
          </p:cNvPr>
          <p:cNvSpPr txBox="1"/>
          <p:nvPr/>
        </p:nvSpPr>
        <p:spPr>
          <a:xfrm>
            <a:off x="4030982" y="2567225"/>
            <a:ext cx="137858" cy="861774"/>
          </a:xfrm>
          <a:prstGeom prst="rect">
            <a:avLst/>
          </a:prstGeom>
          <a:noFill/>
        </p:spPr>
        <p:txBody>
          <a:bodyPr wrap="none" lIns="0" tIns="0" rIns="0" bIns="0" numCol="1" rtlCol="0">
            <a:spAutoFit/>
          </a:bodyPr>
          <a:lstStyle/>
          <a:p>
            <a:r>
              <a:rPr lang="de-DE" altLang="de-DE" sz="2800" spc="300" dirty="0">
                <a:solidFill>
                  <a:srgbClr val="CB225B"/>
                </a:solidFill>
              </a:rPr>
              <a:t> </a:t>
            </a:r>
          </a:p>
          <a:p>
            <a:endParaRPr lang="de-DE" altLang="de-DE" sz="2800" spc="300" dirty="0">
              <a:solidFill>
                <a:srgbClr val="CB225B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0D3EF05-A47A-CEE9-7C3A-5B9A41F2D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047" y="1213597"/>
            <a:ext cx="7176247" cy="385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0990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LEVEL UP! POWERPOINT" val="nCGhHneJ"/>
  <p:tag name="ARTICULATE_SLIDE_THUMBNAIL_REFRESH" val="1"/>
  <p:tag name="ARTICULATE_SLIDE_COUNT" val="22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WafMjsWiZAvtFQNKyrA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ZcveFcTuSouPSNhUDFi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09A9FD79-4AD2-4296-A2DD-9F92A25C9D11}" vid="{BFDEAB75-776D-4FD4-B1CD-15298D2A28B5}"/>
    </a:ext>
  </a:extLst>
</a:theme>
</file>

<file path=ppt/theme/theme2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ppt/theme/theme3.xml><?xml version="1.0" encoding="utf-8"?>
<a:theme xmlns:a="http://schemas.openxmlformats.org/drawingml/2006/main" name="Level up! PowerPoint">
  <a:themeElements>
    <a:clrScheme name="Level up! PowerPoint">
      <a:dk1>
        <a:srgbClr val="353B48"/>
      </a:dk1>
      <a:lt1>
        <a:srgbClr val="F5F6FA"/>
      </a:lt1>
      <a:dk2>
        <a:srgbClr val="1A1D24"/>
      </a:dk2>
      <a:lt2>
        <a:srgbClr val="FFFFFF"/>
      </a:lt2>
      <a:accent1>
        <a:srgbClr val="00A8FF"/>
      </a:accent1>
      <a:accent2>
        <a:srgbClr val="FBC531"/>
      </a:accent2>
      <a:accent3>
        <a:srgbClr val="4CD137"/>
      </a:accent3>
      <a:accent4>
        <a:srgbClr val="E84118"/>
      </a:accent4>
      <a:accent5>
        <a:srgbClr val="7F8FA1"/>
      </a:accent5>
      <a:accent6>
        <a:srgbClr val="273C75"/>
      </a:accent6>
      <a:hlink>
        <a:srgbClr val="5B5B5B"/>
      </a:hlink>
      <a:folHlink>
        <a:srgbClr val="BFBFBF"/>
      </a:folHlink>
    </a:clrScheme>
    <a:fontScheme name="Level up! PowerPoint">
      <a:majorFont>
        <a:latin typeface="Segoe UI Black"/>
        <a:ea typeface=""/>
        <a:cs typeface=""/>
      </a:majorFont>
      <a:minorFont>
        <a:latin typeface="Segoe UI Semibold"/>
        <a:ea typeface=""/>
        <a:cs typeface=""/>
      </a:minorFont>
    </a:fontScheme>
    <a:fmtScheme name="Level up! PowerPoint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73152" tIns="73152" rIns="73152" bIns="73152" numCol="1" rtlCol="0" anchor="ctr"/>
      <a:lstStyle>
        <a:defPPr algn="ctr">
          <a:defRPr sz="10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 numCol="1"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numCol="1" rtlCol="0">
        <a:spAutoFit/>
      </a:bodyPr>
      <a:lstStyle>
        <a:defPPr algn="l">
          <a:defRPr sz="1400" kern="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YouTube Template.potx" id="{78599F88-281C-49F3-85D0-E1461EE50E6A}" vid="{6CF95794-CF56-4202-9084-2222FB314BA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YouTube Template</Template>
  <TotalTime>7341</TotalTime>
  <Words>306</Words>
  <Application>Microsoft Office PowerPoint</Application>
  <PresentationFormat>Widescreen</PresentationFormat>
  <Paragraphs>63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Segoe UI Black</vt:lpstr>
      <vt:lpstr>Segoe UI Semibold</vt:lpstr>
      <vt:lpstr>Level up! PowerPoint</vt:lpstr>
      <vt:lpstr>think-cell Slide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Sandach, Martyna</dc:creator>
  <cp:keywords/>
  <cp:lastModifiedBy>mjanokodesh@outlook.com</cp:lastModifiedBy>
  <cp:revision>122</cp:revision>
  <dcterms:created xsi:type="dcterms:W3CDTF">2018-05-09T07:34:30Z</dcterms:created>
  <dcterms:modified xsi:type="dcterms:W3CDTF">2025-09-04T12:04:32Z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MSOLanguageID">
    <vt:lpwstr>msoLanguageIDEnglishUS</vt:lpwstr>
  </property>
  <property fmtid="{D5CDD505-2E9C-101B-9397-08002B2CF9AE}" pid="3" name="ArticulateGUID">
    <vt:lpwstr>BF279434-19CC-4F2C-940F-B1DCEF3AD2ED</vt:lpwstr>
  </property>
  <property fmtid="{D5CDD505-2E9C-101B-9397-08002B2CF9AE}" pid="4" name="ArticulatePath">
    <vt:lpwstr>Create carousel effect with Morph - Template</vt:lpwstr>
  </property>
</Properties>
</file>